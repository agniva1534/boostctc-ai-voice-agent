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5" r:id="rId3"/>
    <p:sldId id="271" r:id="rId4"/>
    <p:sldId id="272" r:id="rId5"/>
    <p:sldId id="263" r:id="rId6"/>
    <p:sldId id="274" r:id="rId7"/>
    <p:sldId id="276" r:id="rId8"/>
    <p:sldId id="267" r:id="rId9"/>
    <p:sldId id="273" r:id="rId10"/>
    <p:sldId id="265" r:id="rId11"/>
    <p:sldId id="27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E466A1-4701-C704-28BB-DCD0B89331CD}" v="27" dt="2026-04-17T06:32:11.294"/>
    <p1510:client id="{2743293C-47FC-4792-70A2-BF520B3DFC29}" v="13" dt="2026-04-17T06:44:27.323"/>
    <p1510:client id="{5B3CB5C0-90E8-6F41-B899-FA0D7D765B96}" v="274" dt="2026-04-17T08:19:42.018"/>
    <p1510:client id="{A1417E2A-AD3C-CD44-808E-F4301BD3A28D}" v="92" dt="2026-04-17T10:43:50.009"/>
    <p1510:client id="{A49E95A1-119B-B947-98A7-EE011E5888AD}" v="213" dt="2026-04-17T11:28:59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1"/>
  </p:normalViewPr>
  <p:slideViewPr>
    <p:cSldViewPr snapToGrid="0">
      <p:cViewPr varScale="1">
        <p:scale>
          <a:sx n="144" d="100"/>
          <a:sy n="144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3F83AA-3C31-4920-B556-7254A7289F5D}" type="datetimeFigureOut"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A6423-8427-4565-B8AA-40B2B51C67E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3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8124A-18BA-4AFF-6CB9-71BEE79E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5BB06-0551-D1E9-D9AB-629B4AA09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CCF77-C169-DAD6-24EB-DD06DBCDA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37657-C693-5DD8-61AF-221D9B3BC0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58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A97CA-5AC3-8195-B49A-77FC3F18B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2316C-41E4-01DB-5C9C-0E4CEAAF9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677CF-748D-88E4-2FB7-CF3A2F0B5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F0D81-E6B4-679A-3FD2-1245DAA31F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51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57809" y="223523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>
                <a:solidFill>
                  <a:srgbClr val="CFB99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Conversational AI for EdTech onboarding and re-engagement</a:t>
            </a:r>
            <a:endParaRPr lang="en-US" sz="1400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9427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Agniva Mondal   ·   Sughosh Durg   ·   Thanushree Keshava Murthy</a:t>
            </a:r>
            <a:endParaRPr lang="en-US" sz="1200">
              <a:latin typeface="Georgia" panose="020405020504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4829103"/>
            <a:ext cx="5943600" cy="27432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E1BE2E3-383B-A986-C427-2E107DB43C3A}"/>
              </a:ext>
            </a:extLst>
          </p:cNvPr>
          <p:cNvSpPr/>
          <p:nvPr/>
        </p:nvSpPr>
        <p:spPr>
          <a:xfrm>
            <a:off x="357809" y="1617771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BoostCTC AI Voice Agent</a:t>
            </a:r>
            <a:endParaRPr lang="en-US" sz="4000" dirty="0">
              <a:latin typeface="Georgia" panose="02040502050405020303" pitchFamily="18" charset="0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C669540B-8707-01F2-AE4B-402F0A352A07}"/>
              </a:ext>
            </a:extLst>
          </p:cNvPr>
          <p:cNvSpPr/>
          <p:nvPr/>
        </p:nvSpPr>
        <p:spPr>
          <a:xfrm>
            <a:off x="357809" y="2848990"/>
            <a:ext cx="731520" cy="3657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B528AAD1-0A98-81D5-52D8-FE1CB3B4F4EF}"/>
              </a:ext>
            </a:extLst>
          </p:cNvPr>
          <p:cNvSpPr/>
          <p:nvPr/>
        </p:nvSpPr>
        <p:spPr>
          <a:xfrm>
            <a:off x="453225" y="1145503"/>
            <a:ext cx="6941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0">
                <a:solidFill>
                  <a:srgbClr val="CFB99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EMERGING TECH &amp; BUSINESS  ·  PROOF OF CONCEPT</a:t>
            </a:r>
            <a:endParaRPr lang="en-US" sz="800">
              <a:latin typeface="Georgia" panose="02040502050405020303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CEBC3B-9F1A-3FC1-0000-C28A9C18B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8277"/>
            <a:ext cx="1280160" cy="795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923B8-AAC2-8DBC-60C3-5EADD7617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907B28-6BCB-F5D0-AF57-E9A6E2CA1944}"/>
              </a:ext>
            </a:extLst>
          </p:cNvPr>
          <p:cNvSpPr/>
          <p:nvPr/>
        </p:nvSpPr>
        <p:spPr>
          <a:xfrm flipH="1">
            <a:off x="7955280" y="0"/>
            <a:ext cx="1188720" cy="1371600"/>
          </a:xfrm>
          <a:prstGeom prst="rtTriangle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D7AB3AA-F0D0-F8EB-2C88-BD3C168F3363}"/>
              </a:ext>
            </a:extLst>
          </p:cNvPr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E9D8DF-5AE1-F100-B1B8-D31247874DB8}"/>
              </a:ext>
            </a:extLst>
          </p:cNvPr>
          <p:cNvSpPr/>
          <p:nvPr/>
        </p:nvSpPr>
        <p:spPr>
          <a:xfrm>
            <a:off x="365760" y="49560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>
              <a:latin typeface="Georgia" panose="02040502050405020303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AC6AE9-FA15-1744-5EBB-DDFE01B76EE2}"/>
              </a:ext>
            </a:extLst>
          </p:cNvPr>
          <p:cNvSpPr/>
          <p:nvPr/>
        </p:nvSpPr>
        <p:spPr>
          <a:xfrm>
            <a:off x="365760" y="1297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CFB991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LIVE WALKTHROUGH</a:t>
            </a:r>
            <a:endParaRPr lang="en-US" sz="1000">
              <a:latin typeface="Georgia" panose="02040502050405020303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DC2CF9D-5B07-C134-65D6-949E1ED1E66D}"/>
              </a:ext>
            </a:extLst>
          </p:cNvPr>
          <p:cNvSpPr/>
          <p:nvPr/>
        </p:nvSpPr>
        <p:spPr>
          <a:xfrm>
            <a:off x="299258" y="318871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>
                <a:solidFill>
                  <a:srgbClr val="1A1A1A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What’s BoostCTC.com</a:t>
            </a:r>
            <a:endParaRPr lang="en-US" sz="3200">
              <a:latin typeface="Georgia" panose="02040502050405020303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25902E-7369-A95C-6F53-779A7A81A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58" y="977239"/>
            <a:ext cx="4522124" cy="21697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F789EF-9E4B-7E2D-7B72-272FA0C34D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85458" y="2389100"/>
            <a:ext cx="4765108" cy="22609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0813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6314" y="157734"/>
            <a:ext cx="150876" cy="15087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77190" y="240030"/>
            <a:ext cx="68580" cy="685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2900" y="497205"/>
            <a:ext cx="4114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450">
                <a:solidFill>
                  <a:srgbClr val="8E6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825"/>
          </a:p>
        </p:txBody>
      </p:sp>
      <p:sp>
        <p:nvSpPr>
          <p:cNvPr id="5" name="Text 3"/>
          <p:cNvSpPr/>
          <p:nvPr/>
        </p:nvSpPr>
        <p:spPr>
          <a:xfrm>
            <a:off x="342900" y="822960"/>
            <a:ext cx="82296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50" b="1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voice agent that actually listens!</a:t>
            </a:r>
            <a:endParaRPr lang="en-US" sz="2850"/>
          </a:p>
        </p:txBody>
      </p:sp>
      <p:sp>
        <p:nvSpPr>
          <p:cNvPr id="6" name="Text 4"/>
          <p:cNvSpPr/>
          <p:nvPr/>
        </p:nvSpPr>
        <p:spPr>
          <a:xfrm>
            <a:off x="342900" y="1474470"/>
            <a:ext cx="84353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AI for </a:t>
            </a:r>
            <a:r>
              <a:rPr lang="en-US" sz="1125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BoostCTC</a:t>
            </a:r>
            <a:r>
              <a:rPr lang="en-US" sz="1125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guides new visitors through discovery and brings returning users back to the skills they have been avoiding built to feel like a supportive peer, not a sales script.</a:t>
            </a:r>
            <a:endParaRPr lang="en-US" sz="1125"/>
          </a:p>
        </p:txBody>
      </p:sp>
      <p:sp>
        <p:nvSpPr>
          <p:cNvPr id="7" name="Shape 5"/>
          <p:cNvSpPr/>
          <p:nvPr/>
        </p:nvSpPr>
        <p:spPr>
          <a:xfrm>
            <a:off x="342900" y="2297430"/>
            <a:ext cx="4080510" cy="2263140"/>
          </a:xfrm>
          <a:prstGeom prst="rect">
            <a:avLst/>
          </a:prstGeom>
          <a:solidFill>
            <a:srgbClr val="F4EFE3"/>
          </a:solidFill>
          <a:ln w="12700">
            <a:solidFill>
              <a:srgbClr val="E6DC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2900" y="2297430"/>
            <a:ext cx="68580" cy="226314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2537460"/>
            <a:ext cx="308610" cy="3086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8700" y="2537460"/>
            <a:ext cx="3257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300">
                <a:solidFill>
                  <a:srgbClr val="8E6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  ·  ENGAGEMENT</a:t>
            </a:r>
            <a:endParaRPr lang="en-US" sz="825"/>
          </a:p>
        </p:txBody>
      </p:sp>
      <p:sp>
        <p:nvSpPr>
          <p:cNvPr id="11" name="Text 8"/>
          <p:cNvSpPr/>
          <p:nvPr/>
        </p:nvSpPr>
        <p:spPr>
          <a:xfrm>
            <a:off x="617220" y="2948940"/>
            <a:ext cx="36004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new visitors</a:t>
            </a:r>
            <a:endParaRPr lang="en-US" sz="1650"/>
          </a:p>
        </p:txBody>
      </p:sp>
      <p:sp>
        <p:nvSpPr>
          <p:cNvPr id="12" name="Text 9"/>
          <p:cNvSpPr/>
          <p:nvPr/>
        </p:nvSpPr>
        <p:spPr>
          <a:xfrm>
            <a:off x="617220" y="3429000"/>
            <a:ext cx="36004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career stage and context in the first exchange</a:t>
            </a:r>
            <a:endParaRPr lang="en-US" sz="975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tone and vocabulary per persona</a:t>
            </a:r>
            <a:endParaRPr lang="en-US" sz="975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live Socratic reflection as a value demo</a:t>
            </a:r>
            <a:endParaRPr lang="en-US" sz="975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to lead capture or graceful wrap-up</a:t>
            </a:r>
            <a:endParaRPr lang="en-US" sz="975"/>
          </a:p>
        </p:txBody>
      </p:sp>
      <p:sp>
        <p:nvSpPr>
          <p:cNvPr id="13" name="Shape 10"/>
          <p:cNvSpPr/>
          <p:nvPr/>
        </p:nvSpPr>
        <p:spPr>
          <a:xfrm>
            <a:off x="4732020" y="2297430"/>
            <a:ext cx="4080510" cy="2263140"/>
          </a:xfrm>
          <a:prstGeom prst="rect">
            <a:avLst/>
          </a:prstGeom>
          <a:solidFill>
            <a:srgbClr val="F4EFE3"/>
          </a:solidFill>
          <a:ln w="12700">
            <a:solidFill>
              <a:srgbClr val="E6DC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32020" y="2297430"/>
            <a:ext cx="68580" cy="226314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2537460"/>
            <a:ext cx="308610" cy="3086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17820" y="2537460"/>
            <a:ext cx="3257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300">
                <a:solidFill>
                  <a:srgbClr val="8E6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B  ·  ADVOCACY</a:t>
            </a:r>
            <a:endParaRPr lang="en-US" sz="825"/>
          </a:p>
        </p:txBody>
      </p:sp>
      <p:sp>
        <p:nvSpPr>
          <p:cNvPr id="17" name="Text 13"/>
          <p:cNvSpPr/>
          <p:nvPr/>
        </p:nvSpPr>
        <p:spPr>
          <a:xfrm>
            <a:off x="5006340" y="2948940"/>
            <a:ext cx="36004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Re-engaging existing users</a:t>
            </a:r>
            <a:endParaRPr lang="en-US" sz="1650"/>
          </a:p>
        </p:txBody>
      </p:sp>
      <p:sp>
        <p:nvSpPr>
          <p:cNvPr id="18" name="Text 14"/>
          <p:cNvSpPr/>
          <p:nvPr/>
        </p:nvSpPr>
        <p:spPr>
          <a:xfrm>
            <a:off x="5006340" y="3429000"/>
            <a:ext cx="36004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Welcomes returners by name with progress context</a:t>
            </a:r>
            <a:endParaRPr lang="en-US" sz="975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a Socratic performance review</a:t>
            </a:r>
            <a:endParaRPr lang="en-US" sz="975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user self-identify a skill gap</a:t>
            </a:r>
            <a:endParaRPr lang="en-US" sz="975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a specific exercise and asks for a micro-commitment</a:t>
            </a:r>
            <a:endParaRPr lang="en-US" sz="97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08610"/>
            <a:ext cx="150876" cy="15087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349758"/>
            <a:ext cx="68580" cy="685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2900" y="617220"/>
            <a:ext cx="4114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450">
                <a:solidFill>
                  <a:srgbClr val="8E6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AGENT TALKS TO</a:t>
            </a:r>
            <a:endParaRPr lang="en-US" sz="825"/>
          </a:p>
        </p:txBody>
      </p:sp>
      <p:sp>
        <p:nvSpPr>
          <p:cNvPr id="5" name="Text 3"/>
          <p:cNvSpPr/>
          <p:nvPr/>
        </p:nvSpPr>
        <p:spPr>
          <a:xfrm>
            <a:off x="3429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0" b="1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personas, one adaptive voice</a:t>
            </a:r>
            <a:endParaRPr lang="en-US" sz="2550"/>
          </a:p>
        </p:txBody>
      </p:sp>
      <p:sp>
        <p:nvSpPr>
          <p:cNvPr id="6" name="Shape 4"/>
          <p:cNvSpPr/>
          <p:nvPr/>
        </p:nvSpPr>
        <p:spPr>
          <a:xfrm>
            <a:off x="342900" y="1611630"/>
            <a:ext cx="4217670" cy="15430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2900" y="1611630"/>
            <a:ext cx="4217670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2930" y="1831086"/>
            <a:ext cx="480060" cy="480060"/>
          </a:xfrm>
          <a:prstGeom prst="ellipse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3395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0150" y="1831086"/>
            <a:ext cx="32575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300">
                <a:solidFill>
                  <a:srgbClr val="8E6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750"/>
          </a:p>
        </p:txBody>
      </p:sp>
      <p:sp>
        <p:nvSpPr>
          <p:cNvPr id="11" name="Text 8"/>
          <p:cNvSpPr/>
          <p:nvPr/>
        </p:nvSpPr>
        <p:spPr>
          <a:xfrm>
            <a:off x="1200150" y="2036826"/>
            <a:ext cx="325755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Early-Career Engineer</a:t>
            </a:r>
            <a:endParaRPr lang="en-US" sz="1350"/>
          </a:p>
        </p:txBody>
      </p:sp>
      <p:sp>
        <p:nvSpPr>
          <p:cNvPr id="12" name="Text 9"/>
          <p:cNvSpPr/>
          <p:nvPr/>
        </p:nvSpPr>
        <p:spPr>
          <a:xfrm>
            <a:off x="582930" y="2400300"/>
            <a:ext cx="38061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execute the work but hits a ceiling in meetings. Tone is collegial and peer-to-peer, with reflection questions that connect their own experience to the platform.</a:t>
            </a:r>
            <a:endParaRPr lang="en-US" sz="900"/>
          </a:p>
        </p:txBody>
      </p:sp>
      <p:sp>
        <p:nvSpPr>
          <p:cNvPr id="13" name="Shape 10"/>
          <p:cNvSpPr/>
          <p:nvPr/>
        </p:nvSpPr>
        <p:spPr>
          <a:xfrm>
            <a:off x="4732020" y="1611630"/>
            <a:ext cx="4217670" cy="15430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32020" y="1611630"/>
            <a:ext cx="4217670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972050" y="1831086"/>
            <a:ext cx="480060" cy="480060"/>
          </a:xfrm>
          <a:prstGeom prst="ellipse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933956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89270" y="1831086"/>
            <a:ext cx="32575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300">
                <a:solidFill>
                  <a:srgbClr val="8E6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750"/>
          </a:p>
        </p:txBody>
      </p:sp>
      <p:sp>
        <p:nvSpPr>
          <p:cNvPr id="18" name="Text 14"/>
          <p:cNvSpPr/>
          <p:nvPr/>
        </p:nvSpPr>
        <p:spPr>
          <a:xfrm>
            <a:off x="5589270" y="2036826"/>
            <a:ext cx="325755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High School Student</a:t>
            </a:r>
            <a:endParaRPr lang="en-US" sz="1350"/>
          </a:p>
        </p:txBody>
      </p:sp>
      <p:sp>
        <p:nvSpPr>
          <p:cNvPr id="19" name="Text 15"/>
          <p:cNvSpPr/>
          <p:nvPr/>
        </p:nvSpPr>
        <p:spPr>
          <a:xfrm>
            <a:off x="4972050" y="2400300"/>
            <a:ext cx="38061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 but easily disengaged. The agent uses simpler framing and higher energy, leading with the Socratic exercise as the central hook.</a:t>
            </a:r>
            <a:endParaRPr lang="en-US" sz="900"/>
          </a:p>
        </p:txBody>
      </p:sp>
      <p:sp>
        <p:nvSpPr>
          <p:cNvPr id="20" name="Shape 16"/>
          <p:cNvSpPr/>
          <p:nvPr/>
        </p:nvSpPr>
        <p:spPr>
          <a:xfrm>
            <a:off x="342900" y="3326130"/>
            <a:ext cx="4217670" cy="15430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42900" y="3326130"/>
            <a:ext cx="4217670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82930" y="3545586"/>
            <a:ext cx="480060" cy="480060"/>
          </a:xfrm>
          <a:prstGeom prst="ellipse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48456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00150" y="3545586"/>
            <a:ext cx="32575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300">
                <a:solidFill>
                  <a:srgbClr val="8E6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</a:t>
            </a:r>
            <a:endParaRPr lang="en-US" sz="750"/>
          </a:p>
        </p:txBody>
      </p:sp>
      <p:sp>
        <p:nvSpPr>
          <p:cNvPr id="25" name="Text 20"/>
          <p:cNvSpPr/>
          <p:nvPr/>
        </p:nvSpPr>
        <p:spPr>
          <a:xfrm>
            <a:off x="1200150" y="3751326"/>
            <a:ext cx="325755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Parent Signing Up a Child</a:t>
            </a:r>
            <a:endParaRPr lang="en-US" sz="1350"/>
          </a:p>
        </p:txBody>
      </p:sp>
      <p:sp>
        <p:nvSpPr>
          <p:cNvPr id="26" name="Text 21"/>
          <p:cNvSpPr/>
          <p:nvPr/>
        </p:nvSpPr>
        <p:spPr>
          <a:xfrm>
            <a:off x="582930" y="4114800"/>
            <a:ext cx="38061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about safety, efficacy, and value. The agent leans on outcome clarity and trust signals like COPPA and FERPA compliance.</a:t>
            </a:r>
            <a:endParaRPr lang="en-US" sz="900"/>
          </a:p>
        </p:txBody>
      </p:sp>
      <p:sp>
        <p:nvSpPr>
          <p:cNvPr id="27" name="Shape 22"/>
          <p:cNvSpPr/>
          <p:nvPr/>
        </p:nvSpPr>
        <p:spPr>
          <a:xfrm>
            <a:off x="4732020" y="3326130"/>
            <a:ext cx="4217670" cy="15430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C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732020" y="3326130"/>
            <a:ext cx="4217670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4972050" y="3545586"/>
            <a:ext cx="480060" cy="480060"/>
          </a:xfrm>
          <a:prstGeom prst="ellipse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648456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89270" y="3545586"/>
            <a:ext cx="32575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300">
                <a:solidFill>
                  <a:srgbClr val="8E6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USER</a:t>
            </a:r>
            <a:endParaRPr lang="en-US" sz="750"/>
          </a:p>
        </p:txBody>
      </p:sp>
      <p:sp>
        <p:nvSpPr>
          <p:cNvPr id="32" name="Text 26"/>
          <p:cNvSpPr/>
          <p:nvPr/>
        </p:nvSpPr>
        <p:spPr>
          <a:xfrm>
            <a:off x="5589270" y="3751326"/>
            <a:ext cx="325755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User With a Skill Gap</a:t>
            </a:r>
            <a:endParaRPr lang="en-US" sz="1350"/>
          </a:p>
        </p:txBody>
      </p:sp>
      <p:sp>
        <p:nvSpPr>
          <p:cNvPr id="33" name="Text 27"/>
          <p:cNvSpPr/>
          <p:nvPr/>
        </p:nvSpPr>
        <p:spPr>
          <a:xfrm>
            <a:off x="4972050" y="4114800"/>
            <a:ext cx="38061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has an account and a dashboard history. The agent does not re-sell — it helps the user arrive at their own insight about where to improve.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7955280" y="0"/>
            <a:ext cx="1188720" cy="1371600"/>
          </a:xfrm>
          <a:prstGeom prst="rtTriangle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CFB991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TECHNICAL DESIGN</a:t>
            </a:r>
            <a:endParaRPr lang="en-US" sz="1000"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>
                <a:solidFill>
                  <a:srgbClr val="1A1A1A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Technical Stack</a:t>
            </a:r>
            <a:endParaRPr lang="en-US" sz="3200">
              <a:latin typeface="Georgia" panose="020405020504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8595360" cy="347472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0000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Layer</a:t>
            </a:r>
            <a:endParaRPr lang="en-US" sz="100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14600" y="1188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0000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00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0000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00">
              <a:latin typeface="Georgia" panose="020405020504050203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490472"/>
            <a:ext cx="8595360" cy="35661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1545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Voice Infrastructure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14600" y="15453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Vapi + </a:t>
            </a:r>
            <a:r>
              <a:rPr lang="en-US" sz="950" dirty="0" err="1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Deepgram</a:t>
            </a:r>
            <a:r>
              <a:rPr lang="en-US" sz="95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nova-2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1545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WebRTC, STT/TTS, turn management — we override with our own LLM endpoint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1847088"/>
            <a:ext cx="8595360" cy="356616"/>
          </a:xfrm>
          <a:prstGeom prst="rect">
            <a:avLst/>
          </a:prstGeom>
          <a:solidFill>
            <a:srgbClr val="F7F5F0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LLM Orchestration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14600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err="1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LangGraph</a:t>
            </a:r>
            <a:r>
              <a:rPr lang="en-US" sz="95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(TypeScript)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Separates extraction, routing, and generation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2203704"/>
            <a:ext cx="8595360" cy="35661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2258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Analyzer LLM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514600" y="2258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GPT-4o-mini 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0" y="2258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Fast, cheap, deterministic field extraction from every user utterance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2560320"/>
            <a:ext cx="8595360" cy="356616"/>
          </a:xfrm>
          <a:prstGeom prst="rect">
            <a:avLst/>
          </a:prstGeom>
          <a:solidFill>
            <a:srgbClr val="F7F5F0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" y="2615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Speaker LLM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14600" y="26151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GPT-4o 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46320" y="26151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Best instruction-following for nuanced, persona-consistent voice responses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74320" y="2916936"/>
            <a:ext cx="8595360" cy="35661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5760" y="2971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Embeddings / RAG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514600" y="2971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46320" y="2971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Cosine search over </a:t>
            </a:r>
            <a:r>
              <a:rPr lang="en-US" sz="900" err="1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vectors.json</a:t>
            </a: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— no external vector DB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74320" y="3273552"/>
            <a:ext cx="8595360" cy="356616"/>
          </a:xfrm>
          <a:prstGeom prst="rect">
            <a:avLst/>
          </a:prstGeom>
          <a:solidFill>
            <a:srgbClr val="F7F5F0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65760" y="3328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514600" y="33284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err="1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Express.js</a:t>
            </a:r>
            <a:r>
              <a:rPr lang="en-US" sz="95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+ TypeScript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46320" y="3328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Custom-LLM webhook, in-memory state cache, lead CSV API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74320" y="3630168"/>
            <a:ext cx="8595360" cy="35661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65760" y="3685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514600" y="3685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Zod schemas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846320" y="36850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Runtime type safety — catches LLM output mismatches before corrupting state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74320" y="3986784"/>
            <a:ext cx="8595360" cy="356616"/>
          </a:xfrm>
          <a:prstGeom prst="rect">
            <a:avLst/>
          </a:prstGeom>
          <a:solidFill>
            <a:srgbClr val="F7F5F0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65760" y="4041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Dev Tunnel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514600" y="4041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Cloudflare Tunnel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846320" y="4041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Free HTTPS URL auto-patched into Vapi on every dev restart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74320" y="4343400"/>
            <a:ext cx="8595360" cy="356616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65760" y="4398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Lead Storage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514600" y="4398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CSV (leads.csv)</a:t>
            </a:r>
            <a:endParaRPr lang="en-US" sz="950">
              <a:latin typeface="Georgia" panose="02040502050405020303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846320" y="43982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Zero-dependency. Timestamp, call ID, name, email, persona, reflection data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423160" y="1143000"/>
            <a:ext cx="27432" cy="35570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709160" y="1143000"/>
            <a:ext cx="27432" cy="35570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7955280" y="0"/>
            <a:ext cx="1188720" cy="1371600"/>
          </a:xfrm>
          <a:prstGeom prst="rtTriangle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CFB9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>
                <a:solidFill>
                  <a:srgbClr val="1A1A1A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>
              <a:latin typeface="Georgia" panose="020405020504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8308" y="1193292"/>
            <a:ext cx="1965960" cy="822960"/>
          </a:xfrm>
          <a:prstGeom prst="rect">
            <a:avLst/>
          </a:prstGeom>
          <a:solidFill>
            <a:srgbClr val="111111"/>
          </a:solidFill>
          <a:ln w="1905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8308" y="12847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Speaks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178308" y="16687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WebRTC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2395728" y="1170432"/>
            <a:ext cx="1965960" cy="822960"/>
          </a:xfrm>
          <a:prstGeom prst="rect">
            <a:avLst/>
          </a:prstGeom>
          <a:solidFill>
            <a:srgbClr val="111111"/>
          </a:solidFill>
          <a:ln w="1905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95728" y="12618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Vapi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2395728" y="1645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</a:t>
            </a:r>
            <a:r>
              <a:rPr lang="en-US" sz="90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STT + TTS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4562856" y="1170432"/>
            <a:ext cx="1965960" cy="822960"/>
          </a:xfrm>
          <a:prstGeom prst="rect">
            <a:avLst/>
          </a:prstGeom>
          <a:solidFill>
            <a:srgbClr val="111111"/>
          </a:solidFill>
          <a:ln w="1905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62856" y="12618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Server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562856" y="1645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/v1/chat/completions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6729984" y="1170432"/>
            <a:ext cx="1965960" cy="822960"/>
          </a:xfrm>
          <a:prstGeom prst="rect">
            <a:avLst/>
          </a:prstGeom>
          <a:solidFill>
            <a:srgbClr val="111111"/>
          </a:solidFill>
          <a:ln w="1905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29984" y="12618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6729984" y="1645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228600" y="2267712"/>
            <a:ext cx="1965960" cy="822960"/>
          </a:xfrm>
          <a:prstGeom prst="rect">
            <a:avLst/>
          </a:prstGeom>
          <a:solidFill>
            <a:srgbClr val="1C1500"/>
          </a:solidFill>
          <a:ln w="254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" y="23591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CFB9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228600" y="27432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logic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2395728" y="2267712"/>
            <a:ext cx="1965960" cy="822960"/>
          </a:xfrm>
          <a:prstGeom prst="rect">
            <a:avLst/>
          </a:prstGeom>
          <a:solidFill>
            <a:srgbClr val="111111"/>
          </a:solidFill>
          <a:ln w="1905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395728" y="23591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2395728" y="27432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4562856" y="2267712"/>
            <a:ext cx="1965960" cy="822960"/>
          </a:xfrm>
          <a:prstGeom prst="rect">
            <a:avLst/>
          </a:prstGeom>
          <a:solidFill>
            <a:srgbClr val="111111"/>
          </a:solidFill>
          <a:ln w="1905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62856" y="23591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Layer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4562856" y="27432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docs · cosine search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6729984" y="2267712"/>
            <a:ext cx="1965960" cy="822960"/>
          </a:xfrm>
          <a:prstGeom prst="rect">
            <a:avLst/>
          </a:prstGeom>
          <a:solidFill>
            <a:srgbClr val="111111"/>
          </a:solidFill>
          <a:ln w="1905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29984" y="23591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Conv. State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6729984" y="27432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Zod-validated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192024" y="3368967"/>
            <a:ext cx="1901952" cy="822960"/>
          </a:xfrm>
          <a:prstGeom prst="rect">
            <a:avLst/>
          </a:prstGeom>
          <a:solidFill>
            <a:srgbClr val="F7F5F0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96596" y="3391247"/>
            <a:ext cx="64008" cy="8229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5760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A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365760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Visitor Phases</a:t>
            </a:r>
            <a:endParaRPr lang="en-US" sz="900"/>
          </a:p>
        </p:txBody>
      </p:sp>
      <p:sp>
        <p:nvSpPr>
          <p:cNvPr id="53" name="Shape 51"/>
          <p:cNvSpPr/>
          <p:nvPr/>
        </p:nvSpPr>
        <p:spPr>
          <a:xfrm>
            <a:off x="2395728" y="3364992"/>
            <a:ext cx="1965960" cy="822960"/>
          </a:xfrm>
          <a:prstGeom prst="rect">
            <a:avLst/>
          </a:prstGeom>
          <a:solidFill>
            <a:srgbClr val="F7F5F0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395728" y="3364992"/>
            <a:ext cx="64008" cy="8229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532888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B</a:t>
            </a:r>
            <a:endParaRPr lang="en-US" sz="1200"/>
          </a:p>
        </p:txBody>
      </p:sp>
      <p:sp>
        <p:nvSpPr>
          <p:cNvPr id="56" name="Text 54"/>
          <p:cNvSpPr/>
          <p:nvPr/>
        </p:nvSpPr>
        <p:spPr>
          <a:xfrm>
            <a:off x="2532888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User Phases</a:t>
            </a:r>
            <a:endParaRPr lang="en-US" sz="900"/>
          </a:p>
        </p:txBody>
      </p:sp>
      <p:sp>
        <p:nvSpPr>
          <p:cNvPr id="57" name="Shape 55"/>
          <p:cNvSpPr/>
          <p:nvPr/>
        </p:nvSpPr>
        <p:spPr>
          <a:xfrm>
            <a:off x="4562856" y="3364992"/>
            <a:ext cx="1965960" cy="822960"/>
          </a:xfrm>
          <a:prstGeom prst="rect">
            <a:avLst/>
          </a:prstGeom>
          <a:solidFill>
            <a:srgbClr val="F7F5F0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562856" y="3364992"/>
            <a:ext cx="64008" cy="8229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700016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Capture</a:t>
            </a:r>
            <a:endParaRPr lang="en-US" sz="1200"/>
          </a:p>
        </p:txBody>
      </p:sp>
      <p:sp>
        <p:nvSpPr>
          <p:cNvPr id="60" name="Text 58"/>
          <p:cNvSpPr/>
          <p:nvPr/>
        </p:nvSpPr>
        <p:spPr>
          <a:xfrm>
            <a:off x="4700016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leads.csv</a:t>
            </a:r>
            <a:endParaRPr lang="en-US" sz="900"/>
          </a:p>
        </p:txBody>
      </p:sp>
      <p:sp>
        <p:nvSpPr>
          <p:cNvPr id="61" name="Shape 59"/>
          <p:cNvSpPr/>
          <p:nvPr/>
        </p:nvSpPr>
        <p:spPr>
          <a:xfrm>
            <a:off x="6729984" y="3364992"/>
            <a:ext cx="1965960" cy="822960"/>
          </a:xfrm>
          <a:prstGeom prst="rect">
            <a:avLst/>
          </a:prstGeom>
          <a:solidFill>
            <a:srgbClr val="F7F5F0"/>
          </a:solidFill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729984" y="3364992"/>
            <a:ext cx="64008" cy="8229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867144" y="3456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Tunnel</a:t>
            </a:r>
            <a:endParaRPr lang="en-US" sz="1200"/>
          </a:p>
        </p:txBody>
      </p:sp>
      <p:sp>
        <p:nvSpPr>
          <p:cNvPr id="64" name="Text 62"/>
          <p:cNvSpPr/>
          <p:nvPr/>
        </p:nvSpPr>
        <p:spPr>
          <a:xfrm>
            <a:off x="6867144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HTTPS URL</a:t>
            </a:r>
            <a:endParaRPr lang="en-US" sz="90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9F094D4-8ED7-C590-9986-F44538FCEAAE}"/>
              </a:ext>
            </a:extLst>
          </p:cNvPr>
          <p:cNvCxnSpPr/>
          <p:nvPr/>
        </p:nvCxnSpPr>
        <p:spPr>
          <a:xfrm>
            <a:off x="2144268" y="1604772"/>
            <a:ext cx="25146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29AF3BA-740B-9EC8-C9C6-6D278AFBE6FB}"/>
              </a:ext>
            </a:extLst>
          </p:cNvPr>
          <p:cNvCxnSpPr/>
          <p:nvPr/>
        </p:nvCxnSpPr>
        <p:spPr>
          <a:xfrm>
            <a:off x="4311396" y="1559052"/>
            <a:ext cx="25146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DB64BAF-0387-029D-969B-B4B31A44D33F}"/>
              </a:ext>
            </a:extLst>
          </p:cNvPr>
          <p:cNvCxnSpPr/>
          <p:nvPr/>
        </p:nvCxnSpPr>
        <p:spPr>
          <a:xfrm>
            <a:off x="6478524" y="1559052"/>
            <a:ext cx="25146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0D53266-96B5-3E60-F632-C5987D397553}"/>
              </a:ext>
            </a:extLst>
          </p:cNvPr>
          <p:cNvCxnSpPr>
            <a:cxnSpLocks/>
            <a:stCxn id="16" idx="2"/>
            <a:endCxn id="34" idx="0"/>
          </p:cNvCxnSpPr>
          <p:nvPr/>
        </p:nvCxnSpPr>
        <p:spPr>
          <a:xfrm>
            <a:off x="7712964" y="1993392"/>
            <a:ext cx="0" cy="27432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1D7FC86-D9CA-9852-BB5D-0EBEFE1F5937}"/>
              </a:ext>
            </a:extLst>
          </p:cNvPr>
          <p:cNvCxnSpPr>
            <a:cxnSpLocks/>
          </p:cNvCxnSpPr>
          <p:nvPr/>
        </p:nvCxnSpPr>
        <p:spPr>
          <a:xfrm>
            <a:off x="7722439" y="3090672"/>
            <a:ext cx="0" cy="27432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3031E2B-B080-2705-6F1A-025A4945BBEF}"/>
              </a:ext>
            </a:extLst>
          </p:cNvPr>
          <p:cNvCxnSpPr>
            <a:cxnSpLocks/>
          </p:cNvCxnSpPr>
          <p:nvPr/>
        </p:nvCxnSpPr>
        <p:spPr>
          <a:xfrm>
            <a:off x="5568960" y="3090672"/>
            <a:ext cx="0" cy="27432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A76B550-F61D-F406-DBC9-C76C35BE4804}"/>
              </a:ext>
            </a:extLst>
          </p:cNvPr>
          <p:cNvCxnSpPr/>
          <p:nvPr/>
        </p:nvCxnSpPr>
        <p:spPr>
          <a:xfrm>
            <a:off x="4361688" y="2656332"/>
            <a:ext cx="20116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944B907-1650-A6A8-83FA-3CF4E5A378DA}"/>
              </a:ext>
            </a:extLst>
          </p:cNvPr>
          <p:cNvCxnSpPr/>
          <p:nvPr/>
        </p:nvCxnSpPr>
        <p:spPr>
          <a:xfrm>
            <a:off x="2164279" y="2656332"/>
            <a:ext cx="25146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D7B5C46-9516-77CB-75E0-8548DD0AC027}"/>
              </a:ext>
            </a:extLst>
          </p:cNvPr>
          <p:cNvCxnSpPr>
            <a:cxnSpLocks/>
          </p:cNvCxnSpPr>
          <p:nvPr/>
        </p:nvCxnSpPr>
        <p:spPr>
          <a:xfrm>
            <a:off x="1205019" y="3090672"/>
            <a:ext cx="0" cy="27432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E4FFE223-2319-28B4-0309-EA80CCBA66AD}"/>
              </a:ext>
            </a:extLst>
          </p:cNvPr>
          <p:cNvCxnSpPr/>
          <p:nvPr/>
        </p:nvCxnSpPr>
        <p:spPr>
          <a:xfrm>
            <a:off x="2109978" y="3770442"/>
            <a:ext cx="25146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0DD382-2536-FC0A-2934-D954DB52F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3" y="1829192"/>
            <a:ext cx="8926434" cy="2082850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A92C9918-6A5A-9D4F-3D96-ECDF89A1AB9D}"/>
              </a:ext>
            </a:extLst>
          </p:cNvPr>
          <p:cNvSpPr/>
          <p:nvPr/>
        </p:nvSpPr>
        <p:spPr>
          <a:xfrm>
            <a:off x="166977" y="528761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>
                <a:solidFill>
                  <a:srgbClr val="1A1A1A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>
              <a:latin typeface="Georgia" panose="02040502050405020303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CA11352B-27BC-1374-EF8D-A5CFA842E4AE}"/>
              </a:ext>
            </a:extLst>
          </p:cNvPr>
          <p:cNvSpPr/>
          <p:nvPr/>
        </p:nvSpPr>
        <p:spPr>
          <a:xfrm>
            <a:off x="166977" y="400745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CFB9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36275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7955280" y="0"/>
            <a:ext cx="1188720" cy="1371600"/>
          </a:xfrm>
          <a:prstGeom prst="rtTriangle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49560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CFB991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TOOL DEMO</a:t>
            </a:r>
            <a:endParaRPr lang="en-US" sz="1000"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>
                <a:solidFill>
                  <a:srgbClr val="1A1A1A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See the Agent in Action</a:t>
            </a:r>
            <a:endParaRPr lang="en-US" sz="3200">
              <a:latin typeface="Georgia" panose="02040502050405020303" pitchFamily="18" charset="0"/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3754AB09-CBBF-0602-980C-FE0C1F870560}"/>
              </a:ext>
            </a:extLst>
          </p:cNvPr>
          <p:cNvSpPr/>
          <p:nvPr/>
        </p:nvSpPr>
        <p:spPr>
          <a:xfrm>
            <a:off x="2651760" y="2122005"/>
            <a:ext cx="3013544" cy="1105231"/>
          </a:xfrm>
          <a:prstGeom prst="rightArrow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08610"/>
            <a:ext cx="150876" cy="15087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 sz="1350">
              <a:latin typeface="Georgia" panose="020405020504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349758"/>
            <a:ext cx="68580" cy="685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5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2900" y="617220"/>
            <a:ext cx="4114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450">
                <a:solidFill>
                  <a:srgbClr val="8E6F3E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STATUS &amp; ROADMAP</a:t>
            </a:r>
            <a:endParaRPr lang="en-US" sz="825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2900" y="822960"/>
            <a:ext cx="8435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000000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Working today, polished for final submission</a:t>
            </a:r>
            <a:endParaRPr lang="en-US" sz="2250">
              <a:latin typeface="Georgia" panose="020405020504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2900" y="1611630"/>
            <a:ext cx="4183380" cy="28117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50">
              <a:latin typeface="Georgia" panose="02040502050405020303" pitchFamily="18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885950"/>
            <a:ext cx="288036" cy="2880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8700" y="1885950"/>
            <a:ext cx="33604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>
                <a:solidFill>
                  <a:srgbClr val="CFB99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Working Today</a:t>
            </a:r>
            <a:endParaRPr lang="en-US" sz="1350">
              <a:latin typeface="Georgia" panose="02040502050405020303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51510" y="2448306"/>
            <a:ext cx="96012" cy="96012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 sz="1350">
              <a:latin typeface="Georgia" panose="020405020504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7250" y="236601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End-to-end voice conversation</a:t>
            </a:r>
            <a:endParaRPr lang="en-US" sz="975">
              <a:latin typeface="Georgia" panose="020405020504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7250" y="2571750"/>
            <a:ext cx="35661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>
                <a:solidFill>
                  <a:srgbClr val="CFB99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Tap mic, agent opens the call, responds in ~2s</a:t>
            </a:r>
            <a:endParaRPr lang="en-US" sz="825">
              <a:latin typeface="Georgia" panose="020405020504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51510" y="2942082"/>
            <a:ext cx="96012" cy="96012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 sz="1350">
              <a:latin typeface="Georgia" panose="02040502050405020303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57250" y="285978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Persona-aware onboarding (Mode A)</a:t>
            </a:r>
            <a:endParaRPr lang="en-US" sz="975">
              <a:latin typeface="Georgia" panose="020405020504050203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57250" y="3065526"/>
            <a:ext cx="35661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>
                <a:solidFill>
                  <a:srgbClr val="CFB99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Identifies stage, adapts language, runs Socratic demo</a:t>
            </a:r>
            <a:endParaRPr lang="en-US" sz="825">
              <a:latin typeface="Georgia" panose="02040502050405020303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51510" y="3435858"/>
            <a:ext cx="96012" cy="96012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 sz="1350">
              <a:latin typeface="Georgia" panose="020405020504050203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57250" y="335356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Returning user flow (Mode B)</a:t>
            </a:r>
            <a:endParaRPr lang="en-US" sz="975">
              <a:latin typeface="Georgia" panose="02040502050405020303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7250" y="3559302"/>
            <a:ext cx="35661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>
                <a:solidFill>
                  <a:srgbClr val="CFB99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Reads progress, surfaces skill gap, recommends exercise</a:t>
            </a:r>
            <a:endParaRPr lang="en-US" sz="825">
              <a:latin typeface="Georgia" panose="02040502050405020303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51510" y="3929634"/>
            <a:ext cx="96012" cy="96012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 sz="1350">
              <a:latin typeface="Georgia" panose="02040502050405020303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57250" y="384733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RAG over platform knowledge</a:t>
            </a:r>
            <a:endParaRPr lang="en-US" sz="975">
              <a:latin typeface="Georgia" panose="02040502050405020303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57250" y="4053078"/>
            <a:ext cx="35661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>
                <a:solidFill>
                  <a:srgbClr val="CFB99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Grounded answers from real </a:t>
            </a:r>
            <a:r>
              <a:rPr lang="en-US" sz="825" i="1" err="1">
                <a:solidFill>
                  <a:srgbClr val="CFB99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BoostCTC</a:t>
            </a:r>
            <a:r>
              <a:rPr lang="en-US" sz="825" i="1">
                <a:solidFill>
                  <a:srgbClr val="CFB99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content</a:t>
            </a:r>
            <a:endParaRPr lang="en-US" sz="825">
              <a:latin typeface="Georgia" panose="02040502050405020303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629150" y="1611630"/>
            <a:ext cx="4183380" cy="2811780"/>
          </a:xfrm>
          <a:prstGeom prst="rect">
            <a:avLst/>
          </a:prstGeom>
          <a:solidFill>
            <a:srgbClr val="F4EFE3"/>
          </a:solidFill>
          <a:ln w="12700">
            <a:solidFill>
              <a:srgbClr val="E6DCC3"/>
            </a:solidFill>
            <a:prstDash val="solid"/>
          </a:ln>
        </p:spPr>
        <p:txBody>
          <a:bodyPr/>
          <a:lstStyle/>
          <a:p>
            <a:endParaRPr lang="en-US" sz="1350">
              <a:latin typeface="Georgia" panose="02040502050405020303" pitchFamily="18" charset="0"/>
            </a:endParaRPr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470" y="1885950"/>
            <a:ext cx="288036" cy="28803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314950" y="1885950"/>
            <a:ext cx="33604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>
                <a:solidFill>
                  <a:srgbClr val="000000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Next for Final Submission</a:t>
            </a:r>
            <a:endParaRPr lang="en-US" sz="1350">
              <a:latin typeface="Georgia" panose="02040502050405020303" pitchFamily="18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4937760" y="2448306"/>
            <a:ext cx="96012" cy="960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50">
              <a:latin typeface="Georgia" panose="02040502050405020303" pitchFamily="18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5143500" y="2366010"/>
            <a:ext cx="3566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00000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Deploy to a public production URL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143500" y="2544318"/>
            <a:ext cx="3566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>
                <a:solidFill>
                  <a:srgbClr val="5B5B5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Demo from any device, no local setup</a:t>
            </a:r>
            <a:endParaRPr lang="en-US" sz="750">
              <a:latin typeface="Georgia" panose="02040502050405020303" pitchFamily="18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4937760" y="2846070"/>
            <a:ext cx="96012" cy="960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50">
              <a:latin typeface="Georgia" panose="02040502050405020303" pitchFamily="18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5143500" y="2763774"/>
            <a:ext cx="3566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00000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Smoother phase transitions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5143500" y="2942082"/>
            <a:ext cx="3566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>
                <a:solidFill>
                  <a:srgbClr val="5B5B5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Invisible bridges between stages</a:t>
            </a:r>
            <a:endParaRPr lang="en-US" sz="750">
              <a:latin typeface="Georgia" panose="02040502050405020303" pitchFamily="18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4937760" y="3243834"/>
            <a:ext cx="96012" cy="960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350">
              <a:latin typeface="Georgia" panose="02040502050405020303" pitchFamily="18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5143500" y="3161538"/>
            <a:ext cx="3566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00000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Lightweight persona classifier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5143500" y="3339846"/>
            <a:ext cx="3566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>
                <a:solidFill>
                  <a:srgbClr val="5B5B5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Infer type from ambiguous first answers</a:t>
            </a:r>
            <a:endParaRPr lang="en-US" sz="750">
              <a:latin typeface="Georgia" panose="02040502050405020303" pitchFamily="18" charset="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8320811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>
                <a:solidFill>
                  <a:srgbClr val="5B5B5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75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7955280" y="0"/>
            <a:ext cx="1188720" cy="1371600"/>
          </a:xfrm>
          <a:prstGeom prst="rtTriangle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CFB991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REFLECTIONS</a:t>
            </a:r>
            <a:endParaRPr lang="en-US" sz="1000"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>
                <a:solidFill>
                  <a:srgbClr val="1A1A1A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Lessons Learnt</a:t>
            </a:r>
            <a:endParaRPr lang="en-US" sz="3200">
              <a:latin typeface="Georgia" panose="020405020504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60520" cy="1051560"/>
          </a:xfrm>
          <a:prstGeom prst="rect">
            <a:avLst/>
          </a:prstGeom>
          <a:solidFill>
            <a:srgbClr val="F7F5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64008" cy="10515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12618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FB991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87552" y="12618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Conversation Design Is the Hardest Part</a:t>
            </a:r>
            <a:endParaRPr lang="en-US" sz="100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171907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Technical pieces came together quickly. The Socratic phase took many iterations to feel insightful rather than generic.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160520" cy="1051560"/>
          </a:xfrm>
          <a:prstGeom prst="rect">
            <a:avLst/>
          </a:prstGeom>
          <a:solidFill>
            <a:srgbClr val="F7F5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64008" cy="10515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8912" y="2450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FB991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7552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Voice Transitions ≠ Text Transitions</a:t>
            </a:r>
            <a:endParaRPr lang="en-US" sz="100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8912" y="29077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 text, a heading handles a topic shift. In voice, an abrupt change sounds wrong. Bridging language required careful writing.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4160520" cy="1051560"/>
          </a:xfrm>
          <a:prstGeom prst="rect">
            <a:avLst/>
          </a:prstGeom>
          <a:solidFill>
            <a:srgbClr val="F7F5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3566160"/>
            <a:ext cx="64008" cy="10515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8912" y="36393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FB991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87552" y="36393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One System, Many Personas</a:t>
            </a:r>
            <a:endParaRPr lang="en-US" sz="1000">
              <a:latin typeface="Georgia" panose="020405020504050203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8912" y="40965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Same phrasing lands differently for a 14-year-old vs a worried parent. Tone adaptation needed multiple rounds of testing.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9160" y="1188720"/>
            <a:ext cx="4160520" cy="1051560"/>
          </a:xfrm>
          <a:prstGeom prst="rect">
            <a:avLst/>
          </a:prstGeom>
          <a:solidFill>
            <a:srgbClr val="F7F5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09160" y="1188720"/>
            <a:ext cx="64008" cy="10515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73752" y="126187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FB991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22392" y="12618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State Must Flow Forward</a:t>
            </a:r>
            <a:endParaRPr lang="en-US" sz="1000">
              <a:latin typeface="Georgia" panose="0204050205040502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73752" y="171907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Early versions re-asked for info already collected. Fix: explicitly pass context from earlier phases forward.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09160" y="2377440"/>
            <a:ext cx="4160520" cy="1051560"/>
          </a:xfrm>
          <a:prstGeom prst="rect">
            <a:avLst/>
          </a:prstGeom>
          <a:solidFill>
            <a:srgbClr val="F7F5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09160" y="2377440"/>
            <a:ext cx="64008" cy="10515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73752" y="2450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FB991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22392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Silence Calibration Is Non-Trivial</a:t>
            </a:r>
            <a:endParaRPr lang="en-US" sz="1000">
              <a:latin typeface="Georgia" panose="020405020504050203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73752" y="29077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 2–3 sec pause is natural in conversation. Silence detection needed careful tuning to avoid premature phase advances.</a:t>
            </a:r>
            <a:endParaRPr lang="en-US" sz="900">
              <a:latin typeface="Georgia" panose="02040502050405020303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09160" y="3566160"/>
            <a:ext cx="4160520" cy="1051560"/>
          </a:xfrm>
          <a:prstGeom prst="rect">
            <a:avLst/>
          </a:prstGeom>
          <a:solidFill>
            <a:srgbClr val="F7F5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709160" y="3566160"/>
            <a:ext cx="64008" cy="10515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73752" y="36393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FB991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22392" y="36393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Momentum Prevents Drop-Off</a:t>
            </a:r>
            <a:endParaRPr lang="en-US" sz="1000">
              <a:latin typeface="Georgia" panose="020405020504050203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73752" y="40965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Light storytelling, reflecting user's own words, and forward-looking lines between phases keep engagement high.</a:t>
            </a:r>
            <a:endParaRPr lang="en-US" sz="90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E9BFF-246F-4FED-8936-C2BF738A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AE3292-6614-8D4C-3351-4B9C52FA7A27}"/>
              </a:ext>
            </a:extLst>
          </p:cNvPr>
          <p:cNvSpPr/>
          <p:nvPr/>
        </p:nvSpPr>
        <p:spPr>
          <a:xfrm flipH="1">
            <a:off x="7955280" y="0"/>
            <a:ext cx="1188720" cy="1371600"/>
          </a:xfrm>
          <a:prstGeom prst="rtTriangle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042D34-F11B-2DF5-71F0-F95CB27ABE9E}"/>
              </a:ext>
            </a:extLst>
          </p:cNvPr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B671E82-022C-F731-75B6-EA54609650EA}"/>
              </a:ext>
            </a:extLst>
          </p:cNvPr>
          <p:cNvSpPr/>
          <p:nvPr/>
        </p:nvSpPr>
        <p:spPr>
          <a:xfrm>
            <a:off x="36576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CFB991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REFLECTIONS</a:t>
            </a:r>
            <a:endParaRPr lang="en-US" sz="1000">
              <a:latin typeface="Georgia" panose="02040502050405020303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CCE8BA8-4CD6-0AA4-CB3B-8ED02EE04473}"/>
              </a:ext>
            </a:extLst>
          </p:cNvPr>
          <p:cNvSpPr/>
          <p:nvPr/>
        </p:nvSpPr>
        <p:spPr>
          <a:xfrm>
            <a:off x="365760" y="45720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1A1A1A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Challenges</a:t>
            </a:r>
            <a:endParaRPr lang="en-US" sz="3200" dirty="0">
              <a:latin typeface="Georgia" panose="02040502050405020303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A9D1719-85E7-53B0-969E-C9E2D978CEDA}"/>
              </a:ext>
            </a:extLst>
          </p:cNvPr>
          <p:cNvSpPr/>
          <p:nvPr/>
        </p:nvSpPr>
        <p:spPr>
          <a:xfrm>
            <a:off x="274320" y="1566402"/>
            <a:ext cx="4160520" cy="1051560"/>
          </a:xfrm>
          <a:prstGeom prst="rect">
            <a:avLst/>
          </a:prstGeom>
          <a:solidFill>
            <a:srgbClr val="F7F5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4A140CC-7716-9327-5039-0C0183FFA9D6}"/>
              </a:ext>
            </a:extLst>
          </p:cNvPr>
          <p:cNvSpPr/>
          <p:nvPr/>
        </p:nvSpPr>
        <p:spPr>
          <a:xfrm>
            <a:off x="274320" y="1566402"/>
            <a:ext cx="64008" cy="10515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A71B3BB-1B22-52F5-C0F7-29EBF3609BD2}"/>
              </a:ext>
            </a:extLst>
          </p:cNvPr>
          <p:cNvSpPr/>
          <p:nvPr/>
        </p:nvSpPr>
        <p:spPr>
          <a:xfrm>
            <a:off x="438912" y="163955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FB991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628161E-5EDD-F4E8-4676-8E63D0D740D4}"/>
              </a:ext>
            </a:extLst>
          </p:cNvPr>
          <p:cNvSpPr/>
          <p:nvPr/>
        </p:nvSpPr>
        <p:spPr>
          <a:xfrm>
            <a:off x="987552" y="163955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anose="02040502050405020303" pitchFamily="18" charset="0"/>
                <a:ea typeface="Arial" pitchFamily="34" charset="-122"/>
                <a:cs typeface="Arial" pitchFamily="34" charset="-120"/>
              </a:rPr>
              <a:t>Conversation Design Is the Hardest Part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0DA9CC5-E490-4133-49A5-1050F6F2A02B}"/>
              </a:ext>
            </a:extLst>
          </p:cNvPr>
          <p:cNvSpPr/>
          <p:nvPr/>
        </p:nvSpPr>
        <p:spPr>
          <a:xfrm>
            <a:off x="438912" y="209675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Georgia" panose="02040502050405020303" pitchFamily="18" charset="0"/>
              </a:rPr>
              <a:t>Names and emails are easy to mishear or spell wrong, so we collect them in a simple on-screen form instead.</a:t>
            </a:r>
          </a:p>
          <a:p>
            <a:br>
              <a:rPr lang="en-US" sz="900" dirty="0"/>
            </a:br>
            <a:endParaRPr lang="en-US" sz="900" dirty="0">
              <a:latin typeface="Georgia" panose="02040502050405020303" pitchFamily="18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B5F371F-3847-EEA3-F338-2A7E0B57027B}"/>
              </a:ext>
            </a:extLst>
          </p:cNvPr>
          <p:cNvSpPr/>
          <p:nvPr/>
        </p:nvSpPr>
        <p:spPr>
          <a:xfrm>
            <a:off x="274320" y="3000288"/>
            <a:ext cx="4160520" cy="1051560"/>
          </a:xfrm>
          <a:prstGeom prst="rect">
            <a:avLst/>
          </a:prstGeom>
          <a:solidFill>
            <a:srgbClr val="F7F5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2B0E308-9D8A-71C1-51E1-F044F1528192}"/>
              </a:ext>
            </a:extLst>
          </p:cNvPr>
          <p:cNvSpPr/>
          <p:nvPr/>
        </p:nvSpPr>
        <p:spPr>
          <a:xfrm>
            <a:off x="274320" y="3000288"/>
            <a:ext cx="64008" cy="10515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F28BB91-22ED-5032-B312-691977101C18}"/>
              </a:ext>
            </a:extLst>
          </p:cNvPr>
          <p:cNvSpPr/>
          <p:nvPr/>
        </p:nvSpPr>
        <p:spPr>
          <a:xfrm>
            <a:off x="438912" y="3073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FB991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>
              <a:latin typeface="Georgia" panose="02040502050405020303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4C71BF4-30A4-A7E3-AF96-0DC08901892D}"/>
              </a:ext>
            </a:extLst>
          </p:cNvPr>
          <p:cNvSpPr/>
          <p:nvPr/>
        </p:nvSpPr>
        <p:spPr>
          <a:xfrm>
            <a:off x="987552" y="3073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latin typeface="Georgia" panose="02040502050405020303" pitchFamily="18" charset="0"/>
              </a:rPr>
              <a:t>Keeping the conversation on track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46C981C-BA2F-4C0B-2E2F-73BD70A12FC2}"/>
              </a:ext>
            </a:extLst>
          </p:cNvPr>
          <p:cNvSpPr/>
          <p:nvPr/>
        </p:nvSpPr>
        <p:spPr>
          <a:xfrm>
            <a:off x="438912" y="35306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Georgia" panose="02040502050405020303" pitchFamily="18" charset="0"/>
              </a:rPr>
              <a:t>The voice agent often repeated questions or skip ahead unless the flow is designed and tested carefully.</a:t>
            </a:r>
          </a:p>
          <a:p>
            <a:br>
              <a:rPr lang="en-US" sz="900" dirty="0"/>
            </a:br>
            <a:endParaRPr lang="en-US" sz="900" dirty="0">
              <a:latin typeface="Georgia" panose="02040502050405020303" pitchFamily="18" charset="0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76D551E-C51F-C25F-1857-6B7D77F39A65}"/>
              </a:ext>
            </a:extLst>
          </p:cNvPr>
          <p:cNvSpPr/>
          <p:nvPr/>
        </p:nvSpPr>
        <p:spPr>
          <a:xfrm>
            <a:off x="4709160" y="1566402"/>
            <a:ext cx="4160520" cy="1051560"/>
          </a:xfrm>
          <a:prstGeom prst="rect">
            <a:avLst/>
          </a:prstGeom>
          <a:solidFill>
            <a:srgbClr val="F7F5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681B9A4-CC6D-A0E8-7C16-E03743980BFD}"/>
              </a:ext>
            </a:extLst>
          </p:cNvPr>
          <p:cNvSpPr/>
          <p:nvPr/>
        </p:nvSpPr>
        <p:spPr>
          <a:xfrm>
            <a:off x="4709160" y="1566402"/>
            <a:ext cx="64008" cy="10515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9B49A84-C357-1964-93C1-BCCBA170D23F}"/>
              </a:ext>
            </a:extLst>
          </p:cNvPr>
          <p:cNvSpPr/>
          <p:nvPr/>
        </p:nvSpPr>
        <p:spPr>
          <a:xfrm>
            <a:off x="4873752" y="163955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FB991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8BBAB56-0B09-9E19-C7C8-2020B38737DB}"/>
              </a:ext>
            </a:extLst>
          </p:cNvPr>
          <p:cNvSpPr/>
          <p:nvPr/>
        </p:nvSpPr>
        <p:spPr>
          <a:xfrm>
            <a:off x="5422392" y="163955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latin typeface="Georgia" panose="02040502050405020303" pitchFamily="18" charset="0"/>
              </a:rPr>
              <a:t>Feeling natural and helpful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D98FC29-FECC-7003-0470-4F4527DB3BC9}"/>
              </a:ext>
            </a:extLst>
          </p:cNvPr>
          <p:cNvSpPr/>
          <p:nvPr/>
        </p:nvSpPr>
        <p:spPr>
          <a:xfrm>
            <a:off x="4873752" y="209675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Georgia" panose="02040502050405020303" pitchFamily="18" charset="0"/>
              </a:rPr>
              <a:t>Balancing a clear signup ask with a natural, supportive tone is harder than it sounds.</a:t>
            </a:r>
          </a:p>
          <a:p>
            <a:br>
              <a:rPr lang="en-US" sz="900" dirty="0"/>
            </a:br>
            <a:endParaRPr lang="en-US" sz="900" dirty="0">
              <a:latin typeface="Georgia" panose="02040502050405020303" pitchFamily="18" charset="0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206E19E-C46E-44A9-6EA6-E814B5B63099}"/>
              </a:ext>
            </a:extLst>
          </p:cNvPr>
          <p:cNvSpPr/>
          <p:nvPr/>
        </p:nvSpPr>
        <p:spPr>
          <a:xfrm>
            <a:off x="4709160" y="3000288"/>
            <a:ext cx="4160520" cy="1051560"/>
          </a:xfrm>
          <a:prstGeom prst="rect">
            <a:avLst/>
          </a:prstGeom>
          <a:solidFill>
            <a:srgbClr val="F7F5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FB6A3F8-5F2E-DA2B-8546-C3ADA59A77C6}"/>
              </a:ext>
            </a:extLst>
          </p:cNvPr>
          <p:cNvSpPr/>
          <p:nvPr/>
        </p:nvSpPr>
        <p:spPr>
          <a:xfrm>
            <a:off x="4709160" y="3000288"/>
            <a:ext cx="64008" cy="10515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4FEEFCD-5D85-2D17-E7AE-A8616A1858AF}"/>
              </a:ext>
            </a:extLst>
          </p:cNvPr>
          <p:cNvSpPr/>
          <p:nvPr/>
        </p:nvSpPr>
        <p:spPr>
          <a:xfrm>
            <a:off x="4873752" y="3073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FB991"/>
                </a:solidFill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97DD676-7645-F542-1A66-5566497DB64A}"/>
              </a:ext>
            </a:extLst>
          </p:cNvPr>
          <p:cNvSpPr/>
          <p:nvPr/>
        </p:nvSpPr>
        <p:spPr>
          <a:xfrm>
            <a:off x="5422392" y="3073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latin typeface="Georgia" panose="02040502050405020303" pitchFamily="18" charset="0"/>
              </a:rPr>
              <a:t>Matching the story to the person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3B18D1E-BB9A-D834-20C3-908F4D199AA5}"/>
              </a:ext>
            </a:extLst>
          </p:cNvPr>
          <p:cNvSpPr/>
          <p:nvPr/>
        </p:nvSpPr>
        <p:spPr>
          <a:xfrm>
            <a:off x="4873752" y="35306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Georgia" panose="02040502050405020303" pitchFamily="18" charset="0"/>
              </a:rPr>
              <a:t>The same script doesn’t work for a student, a parent, and a senior hire we had to tune how the agent listens and responds.</a:t>
            </a:r>
          </a:p>
          <a:p>
            <a:br>
              <a:rPr lang="en-US" sz="900" dirty="0"/>
            </a:br>
            <a:endParaRPr lang="en-US" sz="9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192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7955280" y="0"/>
            <a:ext cx="1188720" cy="1371600"/>
          </a:xfrm>
          <a:prstGeom prst="rtTriangle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0923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>
                <a:solidFill>
                  <a:srgbClr val="CFB991"/>
                </a:solidFill>
                <a:latin typeface="Georgia" panose="02040502050405020303" pitchFamily="18" charset="0"/>
                <a:cs typeface="Calibri" pitchFamily="34" charset="-120"/>
              </a:rPr>
              <a:t>Thank You!</a:t>
            </a:r>
          </a:p>
        </p:txBody>
      </p:sp>
      <p:sp>
        <p:nvSpPr>
          <p:cNvPr id="7" name="Text 5"/>
          <p:cNvSpPr/>
          <p:nvPr/>
        </p:nvSpPr>
        <p:spPr>
          <a:xfrm>
            <a:off x="536714" y="18922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CFB99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407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b="1">
              <a:solidFill>
                <a:srgbClr val="FFFFFF"/>
              </a:solidFill>
              <a:latin typeface="Georgia" panose="02040502050405020303" pitchFamily="18" charset="0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1D0BD17-EC2F-8749-9DB1-55CBEAD696E7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c0edec1-ab1c-4aa7-b1a3-b58869f127c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907</Words>
  <Application>Microsoft Macintosh PowerPoint</Application>
  <PresentationFormat>On-screen Show (16:9)</PresentationFormat>
  <Paragraphs>167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BoostCTC AI Voice Agent</dc:title>
  <dc:subject>PptxGenJS Presentation</dc:subject>
  <dc:creator>PptxGenJS</dc:creator>
  <cp:lastModifiedBy>Agniva Mondal</cp:lastModifiedBy>
  <cp:revision>1</cp:revision>
  <dcterms:created xsi:type="dcterms:W3CDTF">2026-04-17T06:12:56Z</dcterms:created>
  <dcterms:modified xsi:type="dcterms:W3CDTF">2026-04-17T11:28:59Z</dcterms:modified>
</cp:coreProperties>
</file>